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4" r:id="rId15"/>
    <p:sldId id="265" r:id="rId16"/>
    <p:sldId id="269" r:id="rId17"/>
    <p:sldId id="270" r:id="rId18"/>
    <p:sldId id="271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0:00-0:10. Open by introducing the sports OWL ontology and its 25 mapped information questions.</a:t>
            </a:r>
          </a:p>
          <a:p>
            <a:r>
              <a:t>Member names are editable placeholders and should be replaced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0:00-0:20. Explain the problem, project aim and assessment value of a shared semantic model.</a:t>
            </a:r>
          </a:p>
          <a:p>
            <a:r>
              <a:t>The project brief follows the objectives, knowledge gaps and implementation sections of the supplied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0:20-0:30. Introduce the final model scale and the separation of domain and application semantics.</a:t>
            </a:r>
          </a:p>
          <a:p>
            <a:r>
              <a:t>Counting rule: unique URI declarations with rdf:type owl:Class, owl:ObjectProperty, owl:DatatypeProperty, owl:AnnotationProperty or owl:NamedIndividual.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0:30-0:40. Explain that TeamMembership, AthleteParticipation, CoachingAssignment and MatchResult preserve context.</a:t>
            </a:r>
          </a:p>
          <a:p>
            <a:r>
              <a:t>These relation entities preserve context, while direct properties such as memberOf, participatedIn and hasCoach keep common queries concise.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0:40-1:20. The team lead introduces the model and each presenter states one contribution line.</a:t>
            </a:r>
          </a:p>
          <a:p>
            <a:r>
              <a:t>Replace Member 1-5 and [SID] with the group's real names and student IDs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1: use 7-8 seconds in the 5-minute overview.</a:t>
            </a:r>
          </a:p>
          <a:p>
            <a:r>
              <a:t>State the ontology contribution, then read the two general and three specific question IDs.</a:t>
            </a:r>
          </a:p>
          <a:p>
            <a:r>
              <a:t>Replace [SID] with the student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2: use 7-8 seconds in the 5-minute overview.</a:t>
            </a:r>
          </a:p>
          <a:p>
            <a:r>
              <a:t>State the ontology contribution, then read the two general and three specific question IDs.</a:t>
            </a:r>
          </a:p>
          <a:p>
            <a:r>
              <a:t>Replace [SID] with the student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3: use 7-8 seconds in the 5-minute overview.</a:t>
            </a:r>
          </a:p>
          <a:p>
            <a:r>
              <a:t>State the ontology contribution, then read the two general and three specific question IDs.</a:t>
            </a:r>
          </a:p>
          <a:p>
            <a:r>
              <a:t>Replace [SID] with the student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1:20-1:45. Explain the three links: instance type, sport participation and current team.</a:t>
            </a:r>
          </a:p>
          <a:p>
            <a:r>
              <a:t>The query uses class and property names from the current OWL file. Results come from declared memberOf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1:45-2:20. The final OWL models competitions and match results separately, so the query joins Competition, Venue, Match and MatchResult.</a:t>
            </a:r>
          </a:p>
          <a:p>
            <a:r>
              <a:t>FIFAWorldCup2022 has two recorded venues in the current file, so the example uses GROUP_CONCAT. State any venue filter explicitly in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2:20-3:30. Demonstrate the prototype with the natural-language input, entity recognition, generated SPARQL and result table.</a:t>
            </a:r>
          </a:p>
          <a:p>
            <a:r>
              <a:t>Suggested demos: which sport Messi plays, and the score of the 2022 World Cup final. The second case exercises the match-result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4: use 7-8 seconds in the 5-minute overview.</a:t>
            </a:r>
          </a:p>
          <a:p>
            <a:r>
              <a:t>State the ontology contribution, then read the two general and three specific question IDs.</a:t>
            </a:r>
          </a:p>
          <a:p>
            <a:r>
              <a:t>Replace [SID] with the student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5: use 7-8 seconds in the 5-minute overview.</a:t>
            </a:r>
          </a:p>
          <a:p>
            <a:r>
              <a:t>State the ontology contribution, then read the two general and three specific question IDs.</a:t>
            </a:r>
          </a:p>
          <a:p>
            <a:r>
              <a:t>Replace [SID] with the student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3:30-3:50. Explain the test coverage: attributes, object properties, multi-hop joins, result entities and aggregation.</a:t>
            </a:r>
          </a:p>
          <a:p>
            <a:r>
              <a:t>The final OWL includes penalty result text and five NBA team links, so this slide uses the final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3:50-4:20. State the limitations and present the improvements as concrete next actions.</a:t>
            </a:r>
          </a:p>
          <a:p>
            <a:r>
              <a:t>Avoid claiming that the reasoner validates all facts. It primarily checks ontology axioms and logical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4:20-5:00. Close with the three outcomes and invite questions.</a:t>
            </a:r>
          </a:p>
          <a:p>
            <a:r>
              <a:t>Question coverage is 25 of 25. If names or contributions change, update the tables and notes on slides 5-7.</a:t>
            </a:r>
          </a:p>
          <a:p>
            <a:r>
              <a:t>Main sources: the final Hopfield sports OWL v3.0 file, the general and specific question workbooks, the completed ontology report and the Week 9 assessment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cover-accent"/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E4572E"/>
          </a:solidFill>
          <a:ln w="0">
            <a:noFill/>
            <a:prstDash val="solid"/>
          </a:ln>
        </p:spPr>
      </p:sp>
      <p:sp>
        <p:nvSpPr>
          <p:cNvPr id="2" name="cover-kicker"/>
          <p:cNvSpPr>
            <a:spLocks noGrp="1"/>
          </p:cNvSpPr>
          <p:nvPr/>
        </p:nvSpPr>
        <p:spPr>
          <a:xfrm>
            <a:off x="819150" y="609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 i="0">
                <a:solidFill>
                  <a:srgbClr val="B8CB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MOD004979  /  TASK 6 PRESENTATION (10%)</a:t>
            </a:r>
            <a:endParaRPr sz="1200" b="1" i="0">
              <a:solidFill>
                <a:srgbClr val="B8CB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cover-title"/>
          <p:cNvSpPr>
            <a:spLocks noGrp="1"/>
          </p:cNvSpPr>
          <p:nvPr/>
        </p:nvSpPr>
        <p:spPr>
          <a:xfrm>
            <a:off x="781050" y="1352550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8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 Ontology</a:t>
            </a:r>
            <a:endParaRPr sz="480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819150" y="22479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 i="0">
                <a:solidFill>
                  <a:srgbClr val="E9F0E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 Ontology and Semantic Query Evaluation</a:t>
            </a:r>
            <a:endParaRPr sz="2700" b="0" i="0">
              <a:solidFill>
                <a:srgbClr val="E9F0E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cover-rule"/>
          <p:cNvSpPr>
            <a:spLocks noGrp="1"/>
          </p:cNvSpPr>
          <p:nvPr/>
        </p:nvSpPr>
        <p:spPr>
          <a:xfrm>
            <a:off x="819150" y="3086100"/>
            <a:ext cx="9944100" cy="9525"/>
          </a:xfrm>
          <a:prstGeom prst="line">
            <a:avLst/>
          </a:prstGeom>
          <a:noFill/>
          <a:ln w="19050">
            <a:solidFill>
              <a:srgbClr val="496568"/>
            </a:solidFill>
            <a:prstDash val="solid"/>
          </a:ln>
        </p:spPr>
      </p:sp>
      <p:sp>
        <p:nvSpPr>
          <p:cNvPr id="6" name="cover-summary"/>
          <p:cNvSpPr>
            <a:spLocks noGrp="1"/>
          </p:cNvSpPr>
          <p:nvPr/>
        </p:nvSpPr>
        <p:spPr>
          <a:xfrm>
            <a:off x="819150" y="3448050"/>
            <a:ext cx="7848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 i="0">
                <a:solidFill>
                  <a:srgbClr val="C8D8D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OWL 2, SPARQL, and natural-language querying</a:t>
            </a:r>
            <a:endParaRPr sz="1800" b="0" i="0">
              <a:solidFill>
                <a:srgbClr val="C8D8D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cover-team"/>
          <p:cNvSpPr>
            <a:spLocks noGrp="1"/>
          </p:cNvSpPr>
          <p:nvPr/>
        </p:nvSpPr>
        <p:spPr>
          <a:xfrm>
            <a:off x="819150" y="521970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 i="0">
                <a:solidFill>
                  <a:srgbClr val="D5E1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Group project: Member 1, Member 2, Member 3, Member 4, Member 5</a:t>
            </a:r>
            <a:endParaRPr sz="1350" b="0" i="0">
              <a:solidFill>
                <a:srgbClr val="D5E1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cover-date"/>
          <p:cNvSpPr>
            <a:spLocks noGrp="1"/>
          </p:cNvSpPr>
          <p:nvPr/>
        </p:nvSpPr>
        <p:spPr>
          <a:xfrm>
            <a:off x="9525000" y="5772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9FB5A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October 2026</a:t>
            </a:r>
            <a:endParaRPr sz="1200" b="0" i="0">
              <a:solidFill>
                <a:srgbClr val="9FB5A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itle-2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Aim and Problem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2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Organise fragmented sports information into a queryable and reusable semantic model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2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roblem-heading"/>
          <p:cNvSpPr>
            <a:spLocks noGrp="1"/>
          </p:cNvSpPr>
          <p:nvPr/>
        </p:nvSpPr>
        <p:spPr>
          <a:xfrm>
            <a:off x="609600" y="15240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Problem to solve</a:t>
            </a:r>
            <a:endParaRPr sz="16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roblem-num-01"/>
          <p:cNvSpPr>
            <a:spLocks noGrp="1"/>
          </p:cNvSpPr>
          <p:nvPr/>
        </p:nvSpPr>
        <p:spPr>
          <a:xfrm>
            <a:off x="609600" y="20002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problem-label-01"/>
          <p:cNvSpPr>
            <a:spLocks noGrp="1"/>
          </p:cNvSpPr>
          <p:nvPr/>
        </p:nvSpPr>
        <p:spPr>
          <a:xfrm>
            <a:off x="1162050" y="19812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Multi-source data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problem-detail-01"/>
          <p:cNvSpPr>
            <a:spLocks noGrp="1"/>
          </p:cNvSpPr>
          <p:nvPr/>
        </p:nvSpPr>
        <p:spPr>
          <a:xfrm>
            <a:off x="1162050" y="23241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Leagues, media, venues and statistics use different fields and identifiers.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problem-num-02"/>
          <p:cNvSpPr>
            <a:spLocks noGrp="1"/>
          </p:cNvSpPr>
          <p:nvPr/>
        </p:nvSpPr>
        <p:spPr>
          <a:xfrm>
            <a:off x="609600" y="3200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problem-label-02"/>
          <p:cNvSpPr>
            <a:spLocks noGrp="1"/>
          </p:cNvSpPr>
          <p:nvPr/>
        </p:nvSpPr>
        <p:spPr>
          <a:xfrm>
            <a:off x="1162050" y="31813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Multi-hop relations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problem-detail-02"/>
          <p:cNvSpPr>
            <a:spLocks noGrp="1"/>
          </p:cNvSpPr>
          <p:nvPr/>
        </p:nvSpPr>
        <p:spPr>
          <a:xfrm>
            <a:off x="1162050" y="35242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Athletes, teams, events, venues and equipment form connected paths.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roblem-num-03"/>
          <p:cNvSpPr>
            <a:spLocks noGrp="1"/>
          </p:cNvSpPr>
          <p:nvPr/>
        </p:nvSpPr>
        <p:spPr>
          <a:xfrm>
            <a:off x="609600" y="44005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problem-label-03"/>
          <p:cNvSpPr>
            <a:spLocks noGrp="1"/>
          </p:cNvSpPr>
          <p:nvPr/>
        </p:nvSpPr>
        <p:spPr>
          <a:xfrm>
            <a:off x="1162050" y="4381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Query barrier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problem-detail-03"/>
          <p:cNvSpPr>
            <a:spLocks noGrp="1"/>
          </p:cNvSpPr>
          <p:nvPr/>
        </p:nvSpPr>
        <p:spPr>
          <a:xfrm>
            <a:off x="1162050" y="47244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Most users cannot write SPARQL or interpret an ontology directly.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delivery-panel"/>
          <p:cNvSpPr>
            <a:spLocks noGrp="1"/>
          </p:cNvSpPr>
          <p:nvPr/>
        </p:nvSpPr>
        <p:spPr>
          <a:xfrm>
            <a:off x="6000750" y="1466850"/>
            <a:ext cx="5429250" cy="47434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15" name="delivery-title"/>
          <p:cNvSpPr>
            <a:spLocks noGrp="1"/>
          </p:cNvSpPr>
          <p:nvPr/>
        </p:nvSpPr>
        <p:spPr>
          <a:xfrm>
            <a:off x="6362700" y="17907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deliverables</a:t>
            </a:r>
            <a:endParaRPr sz="19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delivery-num-01"/>
          <p:cNvSpPr>
            <a:spLocks noGrp="1"/>
          </p:cNvSpPr>
          <p:nvPr/>
        </p:nvSpPr>
        <p:spPr>
          <a:xfrm>
            <a:off x="6362700" y="2457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275" b="1" i="0">
              <a:solidFill>
                <a:srgbClr val="A9D9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delivery-label-01"/>
          <p:cNvSpPr>
            <a:spLocks noGrp="1"/>
          </p:cNvSpPr>
          <p:nvPr/>
        </p:nvSpPr>
        <p:spPr>
          <a:xfrm>
            <a:off x="6877050" y="24384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Protégé / OWL 2 ontology</a:t>
            </a:r>
            <a:endParaRPr sz="16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delivery-detail-01"/>
          <p:cNvSpPr>
            <a:spLocks noGrp="1"/>
          </p:cNvSpPr>
          <p:nvPr/>
        </p:nvSpPr>
        <p:spPr>
          <a:xfrm>
            <a:off x="6877050" y="2781300"/>
            <a:ext cx="3857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Classes, properties, individuals, axioms and constraints</a:t>
            </a:r>
            <a:endParaRPr sz="1275" b="0" i="0">
              <a:solidFill>
                <a:srgbClr val="D4E6E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delivery-num-02"/>
          <p:cNvSpPr>
            <a:spLocks noGrp="1"/>
          </p:cNvSpPr>
          <p:nvPr/>
        </p:nvSpPr>
        <p:spPr>
          <a:xfrm>
            <a:off x="6362700" y="33337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275" b="1" i="0">
              <a:solidFill>
                <a:srgbClr val="A9D9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delivery-label-02"/>
          <p:cNvSpPr>
            <a:spLocks noGrp="1"/>
          </p:cNvSpPr>
          <p:nvPr/>
        </p:nvSpPr>
        <p:spPr>
          <a:xfrm>
            <a:off x="6877050" y="33147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 mapped questions</a:t>
            </a:r>
            <a:endParaRPr sz="16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delivery-detail-02"/>
          <p:cNvSpPr>
            <a:spLocks noGrp="1"/>
          </p:cNvSpPr>
          <p:nvPr/>
        </p:nvSpPr>
        <p:spPr>
          <a:xfrm>
            <a:off x="6877050" y="3657600"/>
            <a:ext cx="3857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general questions and 15 specific questions</a:t>
            </a:r>
            <a:endParaRPr sz="1275" b="0" i="0">
              <a:solidFill>
                <a:srgbClr val="D4E6E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delivery-num-03"/>
          <p:cNvSpPr>
            <a:spLocks noGrp="1"/>
          </p:cNvSpPr>
          <p:nvPr/>
        </p:nvSpPr>
        <p:spPr>
          <a:xfrm>
            <a:off x="6362700" y="4210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275" b="1" i="0">
              <a:solidFill>
                <a:srgbClr val="A9D9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delivery-label-03"/>
          <p:cNvSpPr>
            <a:spLocks noGrp="1"/>
          </p:cNvSpPr>
          <p:nvPr/>
        </p:nvSpPr>
        <p:spPr>
          <a:xfrm>
            <a:off x="6877050" y="4191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SPARQL query set</a:t>
            </a:r>
            <a:endParaRPr sz="16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delivery-detail-03"/>
          <p:cNvSpPr>
            <a:spLocks noGrp="1"/>
          </p:cNvSpPr>
          <p:nvPr/>
        </p:nvSpPr>
        <p:spPr>
          <a:xfrm>
            <a:off x="6877050" y="4533900"/>
            <a:ext cx="3857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Joins, filters, aggregation and result validation</a:t>
            </a:r>
            <a:endParaRPr sz="1275" b="0" i="0">
              <a:solidFill>
                <a:srgbClr val="D4E6E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delivery-num-04"/>
          <p:cNvSpPr>
            <a:spLocks noGrp="1"/>
          </p:cNvSpPr>
          <p:nvPr/>
        </p:nvSpPr>
        <p:spPr>
          <a:xfrm>
            <a:off x="6362700" y="50863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A9D9D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1275" b="1" i="0">
              <a:solidFill>
                <a:srgbClr val="A9D9D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delivery-label-04"/>
          <p:cNvSpPr>
            <a:spLocks noGrp="1"/>
          </p:cNvSpPr>
          <p:nvPr/>
        </p:nvSpPr>
        <p:spPr>
          <a:xfrm>
            <a:off x="6877050" y="50673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Python NLP prototype</a:t>
            </a:r>
            <a:endParaRPr sz="16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delivery-detail-04"/>
          <p:cNvSpPr>
            <a:spLocks noGrp="1"/>
          </p:cNvSpPr>
          <p:nvPr/>
        </p:nvSpPr>
        <p:spPr>
          <a:xfrm>
            <a:off x="6877050" y="5410200"/>
            <a:ext cx="3857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 i="0">
                <a:solidFill>
                  <a:srgbClr val="D4E6E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Natural language, entity recognition and query templates</a:t>
            </a:r>
            <a:endParaRPr sz="1275" b="0" i="0">
              <a:solidFill>
                <a:srgbClr val="D4E6E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title-3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Scope and Scale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3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final v3.0 ontology combines domain knowledge, application semantics and validation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3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tric-63"/>
          <p:cNvSpPr>
            <a:spLocks noGrp="1"/>
          </p:cNvSpPr>
          <p:nvPr/>
        </p:nvSpPr>
        <p:spPr>
          <a:xfrm>
            <a:off x="609600" y="14287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63</a:t>
            </a:r>
            <a:endParaRPr sz="43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tric-en-63"/>
          <p:cNvSpPr>
            <a:spLocks noGrp="1"/>
          </p:cNvSpPr>
          <p:nvPr/>
        </p:nvSpPr>
        <p:spPr>
          <a:xfrm>
            <a:off x="60960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Classes</a:t>
            </a:r>
            <a:endParaRPr sz="127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metric-zh-63"/>
          <p:cNvSpPr>
            <a:spLocks noGrp="1"/>
          </p:cNvSpPr>
          <p:nvPr/>
        </p:nvSpPr>
        <p:spPr>
          <a:xfrm>
            <a:off x="609600" y="2438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50 domain + 13 application</a:t>
            </a:r>
            <a:endParaRPr sz="12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tric-79"/>
          <p:cNvSpPr>
            <a:spLocks noGrp="1"/>
          </p:cNvSpPr>
          <p:nvPr/>
        </p:nvSpPr>
        <p:spPr>
          <a:xfrm>
            <a:off x="3333750" y="14287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79</a:t>
            </a:r>
            <a:endParaRPr sz="43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etric-en-79"/>
          <p:cNvSpPr>
            <a:spLocks noGrp="1"/>
          </p:cNvSpPr>
          <p:nvPr/>
        </p:nvSpPr>
        <p:spPr>
          <a:xfrm>
            <a:off x="333375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Modeling properties</a:t>
            </a:r>
            <a:endParaRPr sz="127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tric-zh-79"/>
          <p:cNvSpPr>
            <a:spLocks noGrp="1"/>
          </p:cNvSpPr>
          <p:nvPr/>
        </p:nvSpPr>
        <p:spPr>
          <a:xfrm>
            <a:off x="3333750" y="2438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 object + 17 data</a:t>
            </a:r>
            <a:endParaRPr sz="12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tric-5"/>
          <p:cNvSpPr>
            <a:spLocks noGrp="1"/>
          </p:cNvSpPr>
          <p:nvPr/>
        </p:nvSpPr>
        <p:spPr>
          <a:xfrm>
            <a:off x="6057900" y="14287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43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tric-en-5"/>
          <p:cNvSpPr>
            <a:spLocks noGrp="1"/>
          </p:cNvSpPr>
          <p:nvPr/>
        </p:nvSpPr>
        <p:spPr>
          <a:xfrm>
            <a:off x="605790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Annotation properties</a:t>
            </a:r>
            <a:endParaRPr sz="127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tric-zh-5"/>
          <p:cNvSpPr>
            <a:spLocks noGrp="1"/>
          </p:cNvSpPr>
          <p:nvPr/>
        </p:nvSpPr>
        <p:spPr>
          <a:xfrm>
            <a:off x="6057900" y="2438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Dublin Core metadata</a:t>
            </a:r>
            <a:endParaRPr sz="12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metric-241"/>
          <p:cNvSpPr>
            <a:spLocks noGrp="1"/>
          </p:cNvSpPr>
          <p:nvPr/>
        </p:nvSpPr>
        <p:spPr>
          <a:xfrm>
            <a:off x="8782050" y="14287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241</a:t>
            </a:r>
            <a:endParaRPr sz="4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tric-en-241"/>
          <p:cNvSpPr>
            <a:spLocks noGrp="1"/>
          </p:cNvSpPr>
          <p:nvPr/>
        </p:nvSpPr>
        <p:spPr>
          <a:xfrm>
            <a:off x="878205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Named individuals</a:t>
            </a:r>
            <a:endParaRPr sz="127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metric-zh-241"/>
          <p:cNvSpPr>
            <a:spLocks noGrp="1"/>
          </p:cNvSpPr>
          <p:nvPr/>
        </p:nvSpPr>
        <p:spPr>
          <a:xfrm>
            <a:off x="8782050" y="2438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222 domain + 19 application</a:t>
            </a:r>
            <a:endParaRPr sz="12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metrics-rule"/>
          <p:cNvSpPr>
            <a:spLocks noGrp="1"/>
          </p:cNvSpPr>
          <p:nvPr/>
        </p:nvSpPr>
        <p:spPr>
          <a:xfrm>
            <a:off x="609600" y="2990850"/>
            <a:ext cx="1097280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7" name="scope-label-Concept layer"/>
          <p:cNvSpPr>
            <a:spLocks noGrp="1"/>
          </p:cNvSpPr>
          <p:nvPr/>
        </p:nvSpPr>
        <p:spPr>
          <a:xfrm>
            <a:off x="609600" y="33718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Concept layer</a:t>
            </a:r>
            <a:endParaRPr sz="15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scope-count-Concept layer"/>
          <p:cNvSpPr>
            <a:spLocks noGrp="1"/>
          </p:cNvSpPr>
          <p:nvPr/>
        </p:nvSpPr>
        <p:spPr>
          <a:xfrm>
            <a:off x="2095500" y="3371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63 classes</a:t>
            </a:r>
            <a:endParaRPr sz="1575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scope-detail-Concept layer"/>
          <p:cNvSpPr>
            <a:spLocks noGrp="1"/>
          </p:cNvSpPr>
          <p:nvPr/>
        </p:nvSpPr>
        <p:spPr>
          <a:xfrm>
            <a:off x="4095750" y="33718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 entities, user roles, information concepts and system capabilities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scope-label-Relation layer"/>
          <p:cNvSpPr>
            <a:spLocks noGrp="1"/>
          </p:cNvSpPr>
          <p:nvPr/>
        </p:nvSpPr>
        <p:spPr>
          <a:xfrm>
            <a:off x="609600" y="42100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 layer</a:t>
            </a:r>
            <a:endParaRPr sz="15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scope-count-Relation layer"/>
          <p:cNvSpPr>
            <a:spLocks noGrp="1"/>
          </p:cNvSpPr>
          <p:nvPr/>
        </p:nvSpPr>
        <p:spPr>
          <a:xfrm>
            <a:off x="2095500" y="4210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 + 17 properties</a:t>
            </a:r>
            <a:endParaRPr sz="1575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scope-detail-Relation layer"/>
          <p:cNvSpPr>
            <a:spLocks noGrp="1"/>
          </p:cNvSpPr>
          <p:nvPr/>
        </p:nvSpPr>
        <p:spPr>
          <a:xfrm>
            <a:off x="4095750" y="42100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Membership, participation, coaching, venues, match results and numeric fields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scope-label-Data layer"/>
          <p:cNvSpPr>
            <a:spLocks noGrp="1"/>
          </p:cNvSpPr>
          <p:nvPr/>
        </p:nvSpPr>
        <p:spPr>
          <a:xfrm>
            <a:off x="609600" y="50482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layer</a:t>
            </a:r>
            <a:endParaRPr sz="15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scope-count-Data layer"/>
          <p:cNvSpPr>
            <a:spLocks noGrp="1"/>
          </p:cNvSpPr>
          <p:nvPr/>
        </p:nvSpPr>
        <p:spPr>
          <a:xfrm>
            <a:off x="2095500" y="50482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241 individuals</a:t>
            </a:r>
            <a:endParaRPr sz="1575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scope-detail-Data layer"/>
          <p:cNvSpPr>
            <a:spLocks noGrp="1"/>
          </p:cNvSpPr>
          <p:nvPr/>
        </p:nvSpPr>
        <p:spPr>
          <a:xfrm>
            <a:off x="4095750" y="5048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 data plus role, benefit, catalogue and reasoning instances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1" name="直接箭头连接符 30"/>
          <p:cNvCxnSpPr>
            <a:stCxn id="7" idx="2"/>
            <a:endCxn id="12" idx="0"/>
          </p:cNvCxnSpPr>
          <p:nvPr/>
        </p:nvCxnSpPr>
        <p:spPr>
          <a:xfrm>
            <a:off x="7191375" y="3448050"/>
            <a:ext cx="0" cy="647700"/>
          </a:xfrm>
          <a:prstGeom prst="straightConnector1">
            <a:avLst/>
          </a:prstGeom>
          <a:ln w="19050">
            <a:solidFill>
              <a:srgbClr val="0B728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直接箭头连接符 28"/>
          <p:cNvCxnSpPr>
            <a:stCxn id="10" idx="0"/>
            <a:endCxn id="6" idx="2"/>
          </p:cNvCxnSpPr>
          <p:nvPr/>
        </p:nvCxnSpPr>
        <p:spPr>
          <a:xfrm flipV="1">
            <a:off x="3857625" y="3448050"/>
            <a:ext cx="0" cy="647700"/>
          </a:xfrm>
          <a:prstGeom prst="straightConnector1">
            <a:avLst/>
          </a:prstGeom>
          <a:ln w="19050">
            <a:solidFill>
              <a:srgbClr val="E4572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肘形连接符 26"/>
          <p:cNvCxnSpPr>
            <a:stCxn id="11" idx="0"/>
            <a:endCxn id="6" idx="1"/>
          </p:cNvCxnSpPr>
          <p:nvPr/>
        </p:nvCxnSpPr>
        <p:spPr>
          <a:xfrm flipV="1">
            <a:off x="1466850" y="3086100"/>
            <a:ext cx="1390650" cy="1009650"/>
          </a:xfrm>
          <a:prstGeom prst="bentConnector3">
            <a:avLst>
              <a:gd name="adj1" fmla="val 0"/>
            </a:avLst>
          </a:prstGeom>
          <a:ln w="19050">
            <a:solidFill>
              <a:srgbClr val="0B728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肘形连接符 24"/>
          <p:cNvCxnSpPr>
            <a:stCxn id="8" idx="2"/>
            <a:endCxn id="9" idx="0"/>
          </p:cNvCxnSpPr>
          <p:nvPr/>
        </p:nvCxnSpPr>
        <p:spPr>
          <a:xfrm flipH="1">
            <a:off x="9810750" y="3448050"/>
            <a:ext cx="47625" cy="647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8DFD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直接箭头连接符 22"/>
          <p:cNvCxnSpPr>
            <a:stCxn id="7" idx="3"/>
            <a:endCxn id="8" idx="1"/>
          </p:cNvCxnSpPr>
          <p:nvPr/>
        </p:nvCxnSpPr>
        <p:spPr>
          <a:xfrm>
            <a:off x="8191500" y="3086100"/>
            <a:ext cx="952500" cy="0"/>
          </a:xfrm>
          <a:prstGeom prst="straightConnector1">
            <a:avLst/>
          </a:prstGeom>
          <a:ln w="19050">
            <a:solidFill>
              <a:srgbClr val="0B728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" name="直接箭头连接符 20"/>
          <p:cNvCxnSpPr>
            <a:stCxn id="6" idx="3"/>
            <a:endCxn id="7" idx="1"/>
          </p:cNvCxnSpPr>
          <p:nvPr/>
        </p:nvCxnSpPr>
        <p:spPr>
          <a:xfrm>
            <a:off x="4857750" y="3086100"/>
            <a:ext cx="1333500" cy="0"/>
          </a:xfrm>
          <a:prstGeom prst="straightConnector1">
            <a:avLst/>
          </a:prstGeom>
          <a:ln w="19050">
            <a:solidFill>
              <a:srgbClr val="0B728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" name="肘形连接符 18"/>
          <p:cNvCxnSpPr>
            <a:stCxn id="4" idx="2"/>
            <a:endCxn id="7" idx="0"/>
          </p:cNvCxnSpPr>
          <p:nvPr/>
        </p:nvCxnSpPr>
        <p:spPr>
          <a:xfrm>
            <a:off x="4419600" y="2133600"/>
            <a:ext cx="2771775" cy="590550"/>
          </a:xfrm>
          <a:prstGeom prst="bentConnector4">
            <a:avLst>
              <a:gd name="adj1" fmla="val 0"/>
              <a:gd name="adj2" fmla="val 61290"/>
            </a:avLst>
          </a:prstGeom>
          <a:ln w="19050">
            <a:solidFill>
              <a:srgbClr val="6AA37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直接箭头连接符 16"/>
          <p:cNvCxnSpPr>
            <a:stCxn id="4" idx="3"/>
            <a:endCxn id="5" idx="1"/>
          </p:cNvCxnSpPr>
          <p:nvPr/>
        </p:nvCxnSpPr>
        <p:spPr>
          <a:xfrm>
            <a:off x="5181600" y="1800225"/>
            <a:ext cx="533400" cy="0"/>
          </a:xfrm>
          <a:prstGeom prst="straightConnector1">
            <a:avLst/>
          </a:prstGeom>
          <a:ln w="19050">
            <a:solidFill>
              <a:srgbClr val="6AA37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" name="直接箭头连接符 14"/>
          <p:cNvCxnSpPr>
            <a:stCxn id="3" idx="3"/>
            <a:endCxn id="6" idx="1"/>
          </p:cNvCxnSpPr>
          <p:nvPr/>
        </p:nvCxnSpPr>
        <p:spPr>
          <a:xfrm>
            <a:off x="2419350" y="2047875"/>
            <a:ext cx="438150" cy="1038225"/>
          </a:xfrm>
          <a:prstGeom prst="straightConnector1">
            <a:avLst/>
          </a:prstGeom>
          <a:ln w="19050">
            <a:solidFill>
              <a:srgbClr val="E4572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3" name="肘形连接符 12"/>
          <p:cNvCxnSpPr>
            <a:stCxn id="3" idx="0"/>
            <a:endCxn id="4" idx="2"/>
          </p:cNvCxnSpPr>
          <p:nvPr/>
        </p:nvCxnSpPr>
        <p:spPr>
          <a:xfrm>
            <a:off x="1514475" y="1695450"/>
            <a:ext cx="2905125" cy="438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4572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semantic-title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Relationship Map</a:t>
            </a:r>
            <a:endParaRPr sz="28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emantic-subtitle"/>
          <p:cNvSpPr>
            <a:spLocks noGrp="1"/>
          </p:cNvSpPr>
          <p:nvPr/>
        </p:nvSpPr>
        <p:spPr>
          <a:xfrm>
            <a:off x="628650" y="9525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 class paths extracted from the final OWL schema. Arrow labels show object properties.</a:t>
            </a:r>
            <a:endParaRPr sz="1500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map-athlete"/>
          <p:cNvSpPr>
            <a:spLocks noGrp="1"/>
          </p:cNvSpPr>
          <p:nvPr/>
        </p:nvSpPr>
        <p:spPr>
          <a:xfrm>
            <a:off x="609600" y="169545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17383D"/>
          </a:solidFill>
          <a:ln w="9525">
            <a:solidFill>
              <a:srgbClr val="E4572E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Athlete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ap-sport"/>
          <p:cNvSpPr>
            <a:spLocks noGrp="1"/>
          </p:cNvSpPr>
          <p:nvPr/>
        </p:nvSpPr>
        <p:spPr>
          <a:xfrm>
            <a:off x="3657600" y="1466850"/>
            <a:ext cx="1524000" cy="666750"/>
          </a:xfrm>
          <a:prstGeom prst="roundRect">
            <a:avLst>
              <a:gd name="adj" fmla="val 17143"/>
            </a:avLst>
          </a:prstGeom>
          <a:solidFill>
            <a:srgbClr val="17383D"/>
          </a:solidFill>
          <a:ln w="9525">
            <a:solidFill>
              <a:srgbClr val="6AA37B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ap-equipment"/>
          <p:cNvSpPr>
            <a:spLocks noGrp="1"/>
          </p:cNvSpPr>
          <p:nvPr/>
        </p:nvSpPr>
        <p:spPr>
          <a:xfrm>
            <a:off x="5715000" y="1466850"/>
            <a:ext cx="2190750" cy="666750"/>
          </a:xfrm>
          <a:prstGeom prst="roundRect">
            <a:avLst>
              <a:gd name="adj" fmla="val 17143"/>
            </a:avLst>
          </a:prstGeom>
          <a:solidFill>
            <a:srgbClr val="17383D"/>
          </a:solidFill>
          <a:ln w="9525">
            <a:solidFill>
              <a:srgbClr val="6AA37B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SportsEquipment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map-team"/>
          <p:cNvSpPr>
            <a:spLocks noGrp="1"/>
          </p:cNvSpPr>
          <p:nvPr/>
        </p:nvSpPr>
        <p:spPr>
          <a:xfrm>
            <a:off x="2857500" y="2724150"/>
            <a:ext cx="2000250" cy="723900"/>
          </a:xfrm>
          <a:prstGeom prst="roundRect">
            <a:avLst>
              <a:gd name="adj" fmla="val 15789"/>
            </a:avLst>
          </a:prstGeom>
          <a:solidFill>
            <a:srgbClr val="17383D"/>
          </a:solidFill>
          <a:ln w="9525">
            <a:solidFill>
              <a:srgbClr val="0B7285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SportsTeam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ap-competition"/>
          <p:cNvSpPr>
            <a:spLocks noGrp="1"/>
          </p:cNvSpPr>
          <p:nvPr/>
        </p:nvSpPr>
        <p:spPr>
          <a:xfrm>
            <a:off x="6191250" y="2724150"/>
            <a:ext cx="2000250" cy="723900"/>
          </a:xfrm>
          <a:prstGeom prst="roundRect">
            <a:avLst>
              <a:gd name="adj" fmla="val 15789"/>
            </a:avLst>
          </a:prstGeom>
          <a:solidFill>
            <a:srgbClr val="17383D"/>
          </a:solidFill>
          <a:ln w="9525">
            <a:solidFill>
              <a:srgbClr val="0B7285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Competition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ap-match"/>
          <p:cNvSpPr>
            <a:spLocks noGrp="1"/>
          </p:cNvSpPr>
          <p:nvPr/>
        </p:nvSpPr>
        <p:spPr>
          <a:xfrm>
            <a:off x="9144000" y="2724150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17383D"/>
          </a:solidFill>
          <a:ln w="9525">
            <a:solidFill>
              <a:srgbClr val="E8DFD1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ap-result"/>
          <p:cNvSpPr>
            <a:spLocks noGrp="1"/>
          </p:cNvSpPr>
          <p:nvPr/>
        </p:nvSpPr>
        <p:spPr>
          <a:xfrm>
            <a:off x="8858250" y="4095750"/>
            <a:ext cx="1905000" cy="704850"/>
          </a:xfrm>
          <a:prstGeom prst="roundRect">
            <a:avLst>
              <a:gd name="adj" fmla="val 16216"/>
            </a:avLst>
          </a:prstGeom>
          <a:solidFill>
            <a:srgbClr val="17383D"/>
          </a:solidFill>
          <a:ln w="9525">
            <a:solidFill>
              <a:srgbClr val="E8DFD1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MatchResult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ap-coach"/>
          <p:cNvSpPr>
            <a:spLocks noGrp="1"/>
          </p:cNvSpPr>
          <p:nvPr/>
        </p:nvSpPr>
        <p:spPr>
          <a:xfrm>
            <a:off x="2857500" y="4095750"/>
            <a:ext cx="2000250" cy="704850"/>
          </a:xfrm>
          <a:prstGeom prst="roundRect">
            <a:avLst>
              <a:gd name="adj" fmla="val 16216"/>
            </a:avLst>
          </a:prstGeom>
          <a:solidFill>
            <a:srgbClr val="17383D"/>
          </a:solidFill>
          <a:ln w="9525">
            <a:solidFill>
              <a:srgbClr val="E4572E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Coach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ap-league"/>
          <p:cNvSpPr>
            <a:spLocks noGrp="1"/>
          </p:cNvSpPr>
          <p:nvPr/>
        </p:nvSpPr>
        <p:spPr>
          <a:xfrm>
            <a:off x="609600" y="4095750"/>
            <a:ext cx="1714500" cy="704850"/>
          </a:xfrm>
          <a:prstGeom prst="roundRect">
            <a:avLst>
              <a:gd name="adj" fmla="val 16216"/>
            </a:avLst>
          </a:prstGeom>
          <a:solidFill>
            <a:srgbClr val="17383D"/>
          </a:solidFill>
          <a:ln w="9525">
            <a:solidFill>
              <a:srgbClr val="0B7285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SportsLeague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ap-venue"/>
          <p:cNvSpPr>
            <a:spLocks noGrp="1"/>
          </p:cNvSpPr>
          <p:nvPr/>
        </p:nvSpPr>
        <p:spPr>
          <a:xfrm>
            <a:off x="6191250" y="4095750"/>
            <a:ext cx="2000250" cy="704850"/>
          </a:xfrm>
          <a:prstGeom prst="roundRect">
            <a:avLst>
              <a:gd name="adj" fmla="val 16216"/>
            </a:avLst>
          </a:prstGeom>
          <a:solidFill>
            <a:srgbClr val="17383D"/>
          </a:solidFill>
          <a:ln w="9525">
            <a:solidFill>
              <a:srgbClr val="0B7285"/>
            </a:solidFill>
            <a:prstDash val="solid"/>
          </a:ln>
        </p:spPr>
        <p:txBody>
          <a:bodyPr lIns="114300" tIns="76200" rIns="114300" bIns="76200"/>
          <a:lstStyle>
            <a:def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Venue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edge-participatesIn-210-138"/>
          <p:cNvSpPr>
            <a:spLocks noGrp="1"/>
          </p:cNvSpPr>
          <p:nvPr/>
        </p:nvSpPr>
        <p:spPr>
          <a:xfrm>
            <a:off x="2000250" y="13144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participatesIn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edge-memberOf-236-247"/>
          <p:cNvSpPr>
            <a:spLocks noGrp="1"/>
          </p:cNvSpPr>
          <p:nvPr/>
        </p:nvSpPr>
        <p:spPr>
          <a:xfrm>
            <a:off x="2247900" y="23526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memberOf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edge-requires-540-126"/>
          <p:cNvSpPr>
            <a:spLocks noGrp="1"/>
          </p:cNvSpPr>
          <p:nvPr/>
        </p:nvSpPr>
        <p:spPr>
          <a:xfrm>
            <a:off x="5143500" y="12001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requires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edge-competitionSport-546-228"/>
          <p:cNvSpPr>
            <a:spLocks noGrp="1"/>
          </p:cNvSpPr>
          <p:nvPr/>
        </p:nvSpPr>
        <p:spPr>
          <a:xfrm>
            <a:off x="5200650" y="21717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competitionSport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edge-competedIn-510-278"/>
          <p:cNvSpPr>
            <a:spLocks noGrp="1"/>
          </p:cNvSpPr>
          <p:nvPr/>
        </p:nvSpPr>
        <p:spPr>
          <a:xfrm>
            <a:off x="4857750" y="2647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competedIn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edge-finalMatch-860-278"/>
          <p:cNvSpPr>
            <a:spLocks noGrp="1"/>
          </p:cNvSpPr>
          <p:nvPr/>
        </p:nvSpPr>
        <p:spPr>
          <a:xfrm>
            <a:off x="8191500" y="2647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finalMatch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edge-hasResult-1015-374"/>
          <p:cNvSpPr>
            <a:spLocks noGrp="1"/>
          </p:cNvSpPr>
          <p:nvPr/>
        </p:nvSpPr>
        <p:spPr>
          <a:xfrm>
            <a:off x="9667875" y="35623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hasResult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edge-hasTeam-232-380"/>
          <p:cNvSpPr>
            <a:spLocks noGrp="1"/>
          </p:cNvSpPr>
          <p:nvPr/>
        </p:nvSpPr>
        <p:spPr>
          <a:xfrm>
            <a:off x="2209800" y="36195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hasTeam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edge-hasCoach-394-380"/>
          <p:cNvSpPr>
            <a:spLocks noGrp="1"/>
          </p:cNvSpPr>
          <p:nvPr/>
        </p:nvSpPr>
        <p:spPr>
          <a:xfrm>
            <a:off x="3752850" y="36195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hasCoach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edge-hasRecordedVenue-701-374"/>
          <p:cNvSpPr>
            <a:spLocks noGrp="1"/>
          </p:cNvSpPr>
          <p:nvPr/>
        </p:nvSpPr>
        <p:spPr>
          <a:xfrm>
            <a:off x="6677025" y="35623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def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B9CEC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hasRecordedVenue</a:t>
            </a:r>
            <a:endParaRPr sz="975" b="0" i="0">
              <a:solidFill>
                <a:srgbClr val="B9CEC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map-relation-note"/>
          <p:cNvSpPr>
            <a:spLocks noGrp="1"/>
          </p:cNvSpPr>
          <p:nvPr/>
        </p:nvSpPr>
        <p:spPr>
          <a:xfrm>
            <a:off x="685800" y="53816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 classes preserve context: TeamMembership, AthleteParticipation, CoachingAssignment and MatchResult. The map shows the main direct paths used for navigation.</a:t>
            </a:r>
            <a:endParaRPr sz="1275" b="0" i="0">
              <a:solidFill>
                <a:srgbClr val="AFC7C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page-4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1050" b="0" i="0">
              <a:solidFill>
                <a:srgbClr val="9DB3A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itle-5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Five Presenters, Twenty-Five Questions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5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member contributes ontology evidence and owns two general plus three specific questions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5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38300"/>
          <a:ext cx="10972800" cy="3886200"/>
        </p:xfrm>
        <a:graphic>
          <a:graphicData uri="http://schemas.openxmlformats.org/drawingml/2006/table">
            <a:tbl>
              <a:tblPr firstRow="1" firstCol="1"/>
              <a:tblGrid>
                <a:gridCol w="1666875"/>
                <a:gridCol w="5953125"/>
                <a:gridCol w="1619250"/>
                <a:gridCol w="17335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Presenter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Ontology and data contribution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General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Specific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Member 1</a:t>
                      </a:r>
                      <a:endParaRPr sz="1425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User access, athletes and team membership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G01-G02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S01-S03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Member 2</a:t>
                      </a:r>
                      <a:endParaRPr sz="1425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Coaches, competitions and recorded venues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G03-G04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S04-S06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Yanming </a:t>
                      </a:r>
                      <a:r>
                        <a:rPr lang="en-US"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Gong</a:t>
                      </a:r>
                      <a:endParaRPr lang="en-US" sz="1425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Competition venues, equipment, basketball athletes, team coaches and league membership</a:t>
                      </a:r>
                      <a:endParaRPr lang="en-US" altLang="zh-CN"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G0</a:t>
                      </a:r>
                      <a:r>
                        <a:rPr lang="en-US"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</a:t>
                      </a:r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-G0</a:t>
                      </a:r>
                      <a:r>
                        <a:rPr lang="en-US"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</a:t>
                      </a:r>
                      <a:endParaRPr lang="en-US"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S0</a:t>
                      </a:r>
                      <a:r>
                        <a:rPr lang="en-US"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1、</a:t>
                      </a:r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S0</a:t>
                      </a:r>
                      <a:r>
                        <a:rPr lang="en-US"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4、</a:t>
                      </a:r>
                      <a:r>
                        <a:rPr sz="1425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+mn-ea"/>
                        </a:rPr>
                        <a:t>S0</a:t>
                      </a:r>
                      <a:r>
                        <a:rPr lang="en-US" sz="1425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sym typeface="+mn-ea"/>
                        </a:rPr>
                        <a:t>8</a:t>
                      </a:r>
                      <a:endParaRPr lang="en-US"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+mn-ea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Member 4</a:t>
                      </a:r>
                      <a:endParaRPr sz="1425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Competition context, equipment and participation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G07-G08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S10-S12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Member 5</a:t>
                      </a:r>
                      <a:endParaRPr sz="1425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Team comparison, reasoning and data quality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G09-G10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S13-S15</a:t>
                      </a:r>
                      <a:endParaRPr sz="1425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verage-mark"/>
          <p:cNvSpPr>
            <a:spLocks noGrp="1"/>
          </p:cNvSpPr>
          <p:nvPr/>
        </p:nvSpPr>
        <p:spPr>
          <a:xfrm>
            <a:off x="609600" y="5810250"/>
            <a:ext cx="57150" cy="457200"/>
          </a:xfrm>
          <a:prstGeom prst="rect">
            <a:avLst/>
          </a:prstGeom>
          <a:solidFill>
            <a:srgbClr val="E4572E"/>
          </a:solidFill>
          <a:ln w="0">
            <a:noFill/>
            <a:prstDash val="solid"/>
          </a:ln>
        </p:spPr>
      </p:sp>
      <p:sp>
        <p:nvSpPr>
          <p:cNvPr id="6" name="coverage-summary"/>
          <p:cNvSpPr>
            <a:spLocks noGrp="1"/>
          </p:cNvSpPr>
          <p:nvPr/>
        </p:nvSpPr>
        <p:spPr>
          <a:xfrm>
            <a:off x="876300" y="58102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Coverage: G01-G10 = 10 / 10  |  S01-S15 = 15 / 15  |  Duplicate assignments = 0</a:t>
            </a:r>
            <a:endParaRPr sz="1500" b="1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-6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 Roles and Athlete Retrieval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6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Presenter details: Member 1  |  Student ID: [SID]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6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mber-name-6"/>
          <p:cNvSpPr>
            <a:spLocks noGrp="1"/>
          </p:cNvSpPr>
          <p:nvPr/>
        </p:nvSpPr>
        <p:spPr>
          <a:xfrm>
            <a:off x="609600" y="1390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 1  /  Access | Athlete | Team</a:t>
            </a:r>
            <a:endParaRPr sz="12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mber-contribution-panel-6"/>
          <p:cNvSpPr>
            <a:spLocks noGrp="1"/>
          </p:cNvSpPr>
          <p:nvPr/>
        </p:nvSpPr>
        <p:spPr>
          <a:xfrm>
            <a:off x="609600" y="1790700"/>
            <a:ext cx="4333875" cy="3714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member-contribution-title-6"/>
          <p:cNvSpPr>
            <a:spLocks noGrp="1"/>
          </p:cNvSpPr>
          <p:nvPr/>
        </p:nvSpPr>
        <p:spPr>
          <a:xfrm>
            <a:off x="9144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AND DATA CONTRIBUTION</a:t>
            </a:r>
            <a:endParaRPr sz="105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mber-contribution-copy-6"/>
          <p:cNvSpPr>
            <a:spLocks noGrp="1"/>
          </p:cNvSpPr>
          <p:nvPr/>
        </p:nvSpPr>
        <p:spPr>
          <a:xfrm>
            <a:off x="914400" y="2476500"/>
            <a:ext cx="3714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Defined and checked UserRole and SportsFanRole access.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75"/>
          </a:p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Contributed the Athlete, participatesIn and memberOf / hasAthlete paths used to connect people, sports and teams.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ember-evidence-6"/>
          <p:cNvSpPr>
            <a:spLocks noGrp="1"/>
          </p:cNvSpPr>
          <p:nvPr/>
        </p:nvSpPr>
        <p:spPr>
          <a:xfrm>
            <a:off x="914400" y="48577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Evidence: 37 athlete records. Basketball returns 6 athletes. Argentina has a 26-player roster.</a:t>
            </a:r>
            <a:endParaRPr sz="1200" b="0" i="0">
              <a:solidFill>
                <a:srgbClr val="D7E9E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mber-questions-title-6"/>
          <p:cNvSpPr>
            <a:spLocks noGrp="1"/>
          </p:cNvSpPr>
          <p:nvPr/>
        </p:nvSpPr>
        <p:spPr>
          <a:xfrm>
            <a:off x="5429250" y="17907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Assigned question set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mber-general-label-6"/>
          <p:cNvSpPr>
            <a:spLocks noGrp="1"/>
          </p:cNvSpPr>
          <p:nvPr/>
        </p:nvSpPr>
        <p:spPr>
          <a:xfrm>
            <a:off x="54292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 /  2</a:t>
            </a:r>
            <a:endParaRPr sz="10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mber-general-6"/>
          <p:cNvSpPr>
            <a:spLocks noGrp="1"/>
          </p:cNvSpPr>
          <p:nvPr/>
        </p:nvSpPr>
        <p:spPr>
          <a:xfrm>
            <a:off x="5429250" y="259080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G01 Who will use the Sports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G02 How can sports fans benefit from this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mber-rule-6"/>
          <p:cNvSpPr>
            <a:spLocks noGrp="1"/>
          </p:cNvSpPr>
          <p:nvPr/>
        </p:nvSpPr>
        <p:spPr>
          <a:xfrm>
            <a:off x="5429250" y="3867150"/>
            <a:ext cx="561975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3" name="member-specific-label-6"/>
          <p:cNvSpPr>
            <a:spLocks noGrp="1"/>
          </p:cNvSpPr>
          <p:nvPr/>
        </p:nvSpPr>
        <p:spPr>
          <a:xfrm>
            <a:off x="5429250" y="4057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 /  3</a:t>
            </a:r>
            <a:endParaRPr sz="10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mber-specific-6"/>
          <p:cNvSpPr>
            <a:spLocks noGrp="1"/>
          </p:cNvSpPr>
          <p:nvPr/>
        </p:nvSpPr>
        <p:spPr>
          <a:xfrm>
            <a:off x="5429250" y="438150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S01 Which athletes compete in basketball?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S02 Which sport does a particular athlete participate in?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S03 Which athletes belong to a specific team?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-7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Coaches and Competition Context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7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Presenter details: Member 2  |  Student ID: [SID]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7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mber-name-7"/>
          <p:cNvSpPr>
            <a:spLocks noGrp="1"/>
          </p:cNvSpPr>
          <p:nvPr/>
        </p:nvSpPr>
        <p:spPr>
          <a:xfrm>
            <a:off x="609600" y="1390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 2  /  Coaching | Competition | Venue</a:t>
            </a:r>
            <a:endParaRPr sz="12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mber-contribution-panel-7"/>
          <p:cNvSpPr>
            <a:spLocks noGrp="1"/>
          </p:cNvSpPr>
          <p:nvPr/>
        </p:nvSpPr>
        <p:spPr>
          <a:xfrm>
            <a:off x="609600" y="1790700"/>
            <a:ext cx="4333875" cy="3714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member-contribution-title-7"/>
          <p:cNvSpPr>
            <a:spLocks noGrp="1"/>
          </p:cNvSpPr>
          <p:nvPr/>
        </p:nvSpPr>
        <p:spPr>
          <a:xfrm>
            <a:off x="9144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AND DATA CONTRIBUTION</a:t>
            </a:r>
            <a:endParaRPr sz="105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mber-contribution-copy-7"/>
          <p:cNvSpPr>
            <a:spLocks noGrp="1"/>
          </p:cNvSpPr>
          <p:nvPr/>
        </p:nvSpPr>
        <p:spPr>
          <a:xfrm>
            <a:off x="914400" y="2476500"/>
            <a:ext cx="3714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Contributed CoachRole, CoachingAssignment, Competition and Venue coverage.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75"/>
          </a:p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Checked the hasCoach, hasParticipant and hasRecordedVenue links that connect teams, coaches and events.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ember-evidence-7"/>
          <p:cNvSpPr>
            <a:spLocks noGrp="1"/>
          </p:cNvSpPr>
          <p:nvPr/>
        </p:nvSpPr>
        <p:spPr>
          <a:xfrm>
            <a:off x="914400" y="48577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Evidence: Argentina maps to Lionel Scaloni. FIFA World Cup 2022 records 6 teams and 2 venues.</a:t>
            </a:r>
            <a:endParaRPr sz="1200" b="0" i="0">
              <a:solidFill>
                <a:srgbClr val="D7E9E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mber-questions-title-7"/>
          <p:cNvSpPr>
            <a:spLocks noGrp="1"/>
          </p:cNvSpPr>
          <p:nvPr/>
        </p:nvSpPr>
        <p:spPr>
          <a:xfrm>
            <a:off x="5429250" y="17907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Assigned question set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mber-general-label-7"/>
          <p:cNvSpPr>
            <a:spLocks noGrp="1"/>
          </p:cNvSpPr>
          <p:nvPr/>
        </p:nvSpPr>
        <p:spPr>
          <a:xfrm>
            <a:off x="54292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 /  2</a:t>
            </a:r>
            <a:endParaRPr sz="10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mber-general-7"/>
          <p:cNvSpPr>
            <a:spLocks noGrp="1"/>
          </p:cNvSpPr>
          <p:nvPr/>
        </p:nvSpPr>
        <p:spPr>
          <a:xfrm>
            <a:off x="5429250" y="259080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G03 Why would coaches use the Sports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G04 How can sports analysts use this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mber-rule-7"/>
          <p:cNvSpPr>
            <a:spLocks noGrp="1"/>
          </p:cNvSpPr>
          <p:nvPr/>
        </p:nvSpPr>
        <p:spPr>
          <a:xfrm>
            <a:off x="5429250" y="3867150"/>
            <a:ext cx="561975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3" name="member-specific-label-7"/>
          <p:cNvSpPr>
            <a:spLocks noGrp="1"/>
          </p:cNvSpPr>
          <p:nvPr/>
        </p:nvSpPr>
        <p:spPr>
          <a:xfrm>
            <a:off x="5429250" y="4057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 /  3</a:t>
            </a:r>
            <a:endParaRPr sz="10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mber-specific-7"/>
          <p:cNvSpPr>
            <a:spLocks noGrp="1"/>
          </p:cNvSpPr>
          <p:nvPr/>
        </p:nvSpPr>
        <p:spPr>
          <a:xfrm>
            <a:off x="5429250" y="438150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S04 Who is the coach of a particular team?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S05 Which teams participated in a particular competition?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S06 Where was a particular competition held?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-8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Search, Equipment, Athletes, Matches and Leagues</a:t>
            </a:r>
            <a:endParaRPr lang="en-US" altLang="zh-CN"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8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Presenter details: </a:t>
            </a:r>
            <a:r>
              <a:rPr lang="en-US"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Yanming Gong</a:t>
            </a: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|  Student ID: [</a:t>
            </a:r>
            <a:r>
              <a:rPr lang="en-US" altLang="zh-CN"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W261802124</a:t>
            </a: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]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8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mber-name-8"/>
          <p:cNvSpPr>
            <a:spLocks noGrp="1"/>
          </p:cNvSpPr>
          <p:nvPr/>
        </p:nvSpPr>
        <p:spPr>
          <a:xfrm>
            <a:off x="609600" y="1390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 3  /  Search | Match | League</a:t>
            </a:r>
            <a:endParaRPr sz="12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mber-contribution-panel-8"/>
          <p:cNvSpPr>
            <a:spLocks noGrp="1"/>
          </p:cNvSpPr>
          <p:nvPr/>
        </p:nvSpPr>
        <p:spPr>
          <a:xfrm>
            <a:off x="609600" y="1790700"/>
            <a:ext cx="4333875" cy="3714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member-contribution-title-8"/>
          <p:cNvSpPr>
            <a:spLocks noGrp="1"/>
          </p:cNvSpPr>
          <p:nvPr/>
        </p:nvSpPr>
        <p:spPr>
          <a:xfrm>
            <a:off x="9144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AND DATA CONTRIBUTION</a:t>
            </a:r>
            <a:endParaRPr sz="105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mber-contribution-copy-8"/>
          <p:cNvSpPr>
            <a:spLocks noGrp="1"/>
          </p:cNvSpPr>
          <p:nvPr/>
        </p:nvSpPr>
        <p:spPr>
          <a:xfrm>
            <a:off x="914400" y="2421255"/>
            <a:ext cx="371475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00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Collected the questions and the facts behind them — venues, equipment, athletes, coaches and league teams. Verified the returned results of all five queries with rdflib (13 / 8 / 6 / 1 / 5). Co-built the OWL ontology file together with the team.</a:t>
            </a:r>
            <a:endParaRPr lang="en-US" altLang="zh-CN" sz="1400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00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Evidence: World Cup final = 3:3, penalties 4:2; NBA has 5 recorded teams; G7 returns 13 venues, G8 returns 8 equipment items, S1 returns 6 basketball athletes, S4 returns 1 coach.</a:t>
            </a:r>
            <a:endParaRPr lang="en-US" altLang="zh-CN" sz="1400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mber-questions-title-8"/>
          <p:cNvSpPr>
            <a:spLocks noGrp="1"/>
          </p:cNvSpPr>
          <p:nvPr/>
        </p:nvSpPr>
        <p:spPr>
          <a:xfrm>
            <a:off x="5429250" y="17907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Assigned question set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mber-general-label-8"/>
          <p:cNvSpPr>
            <a:spLocks noGrp="1"/>
          </p:cNvSpPr>
          <p:nvPr/>
        </p:nvSpPr>
        <p:spPr>
          <a:xfrm>
            <a:off x="54292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 /  2</a:t>
            </a:r>
            <a:endParaRPr sz="10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mber-general-8"/>
          <p:cNvSpPr>
            <a:spLocks noGrp="1"/>
          </p:cNvSpPr>
          <p:nvPr/>
        </p:nvSpPr>
        <p:spPr>
          <a:xfrm>
            <a:off x="5429250" y="259080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G07 · Competition venues — Can this ontology help users find information about competitions? (13 results)</a:t>
            </a:r>
            <a:endParaRPr lang="en-US" altLang="zh-CN"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G08 · Required equipment — Can this ontology help users find sports equipment? (8 results)</a:t>
            </a:r>
            <a:endParaRPr lang="en-US" altLang="zh-CN"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mber-rule-8"/>
          <p:cNvSpPr>
            <a:spLocks noGrp="1"/>
          </p:cNvSpPr>
          <p:nvPr/>
        </p:nvSpPr>
        <p:spPr>
          <a:xfrm>
            <a:off x="5429250" y="3867150"/>
            <a:ext cx="561975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3" name="member-specific-label-8"/>
          <p:cNvSpPr>
            <a:spLocks noGrp="1"/>
          </p:cNvSpPr>
          <p:nvPr/>
        </p:nvSpPr>
        <p:spPr>
          <a:xfrm>
            <a:off x="5429250" y="4057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 /  3</a:t>
            </a:r>
            <a:endParaRPr sz="10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mber-specific-8"/>
          <p:cNvSpPr>
            <a:spLocks noGrp="1"/>
          </p:cNvSpPr>
          <p:nvPr/>
        </p:nvSpPr>
        <p:spPr>
          <a:xfrm>
            <a:off x="5429250" y="438150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S01 · Basketball athletes — List athletes linked to basketball, if participation is recorded (6 answers)</a:t>
            </a:r>
            <a:endParaRPr lang="en-US" altLang="zh-CN"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S04 · Team coach — Retrieve the coach linked to the team via hasCoach (1 answer)</a:t>
            </a:r>
            <a:endParaRPr lang="en-US" altLang="zh-CN"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S08 · League teams — List teams linked to a league via hasTeam (5 answers)</a:t>
            </a:r>
            <a:endParaRPr lang="en-US" altLang="zh-CN"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-11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SPARQL Example 1: </a:t>
            </a:r>
            <a:r>
              <a:rPr lang="en-US" altLang="zh-CN"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Q7: hasRecordedVenue </a:t>
            </a:r>
            <a:endParaRPr lang="en-US" altLang="zh-CN"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11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query1-panel"/>
          <p:cNvSpPr>
            <a:spLocks noGrp="1"/>
          </p:cNvSpPr>
          <p:nvPr/>
        </p:nvSpPr>
        <p:spPr>
          <a:xfrm>
            <a:off x="609600" y="1504950"/>
            <a:ext cx="6400800" cy="1500505"/>
          </a:xfrm>
          <a:prstGeom prst="rect">
            <a:avLst/>
          </a:prstGeom>
          <a:solidFill>
            <a:srgbClr val="132E32"/>
          </a:solidFill>
          <a:ln w="0">
            <a:noFill/>
            <a:prstDash val="solid"/>
          </a:ln>
        </p:spPr>
      </p:sp>
      <p:sp>
        <p:nvSpPr>
          <p:cNvPr id="5" name="query1-code"/>
          <p:cNvSpPr>
            <a:spLocks noGrp="1"/>
          </p:cNvSpPr>
          <p:nvPr/>
        </p:nvSpPr>
        <p:spPr>
          <a:xfrm>
            <a:off x="838200" y="1752600"/>
            <a:ext cx="64008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PREFIX sports: &lt;urn:hopfield:sports:domain#&gt;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SELECT ?competition ?venue WHERE {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?competition sports:hasRecordedVenue ?venue .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}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ORDER BY ?competition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query1-right-label"/>
          <p:cNvSpPr>
            <a:spLocks noGrp="1"/>
          </p:cNvSpPr>
          <p:nvPr/>
        </p:nvSpPr>
        <p:spPr>
          <a:xfrm>
            <a:off x="7905750" y="16192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it retrieves</a:t>
            </a:r>
            <a:endParaRPr sz="180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query1-right-copy"/>
          <p:cNvSpPr>
            <a:spLocks noGrp="1"/>
          </p:cNvSpPr>
          <p:nvPr/>
        </p:nvSpPr>
        <p:spPr>
          <a:xfrm>
            <a:off x="7905750" y="2076450"/>
            <a:ext cx="342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Can this ontology help users find information about competitions? </a:t>
            </a:r>
            <a:endParaRPr lang="en-US" altLang="zh-CN" sz="1650" b="0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query1-rule"/>
          <p:cNvSpPr>
            <a:spLocks noGrp="1"/>
          </p:cNvSpPr>
          <p:nvPr/>
        </p:nvSpPr>
        <p:spPr>
          <a:xfrm>
            <a:off x="628650" y="3430270"/>
            <a:ext cx="10437495" cy="19050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9" name="query1-output-label"/>
          <p:cNvSpPr>
            <a:spLocks noGrp="1"/>
          </p:cNvSpPr>
          <p:nvPr/>
        </p:nvSpPr>
        <p:spPr>
          <a:xfrm>
            <a:off x="1127760" y="386143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Example output</a:t>
            </a:r>
            <a:endParaRPr sz="142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685" y="3536950"/>
            <a:ext cx="6962140" cy="3265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-12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SPARQL Example 2: </a:t>
            </a:r>
            <a:r>
              <a:rPr lang="en-US" altLang="zh-CN"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Q8: hasTeam</a:t>
            </a:r>
            <a:endParaRPr lang="en-US" altLang="zh-CN"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page-11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query1-panel"/>
          <p:cNvSpPr>
            <a:spLocks noGrp="1"/>
          </p:cNvSpPr>
          <p:nvPr/>
        </p:nvSpPr>
        <p:spPr>
          <a:xfrm>
            <a:off x="609600" y="1504950"/>
            <a:ext cx="6400800" cy="1500505"/>
          </a:xfrm>
          <a:prstGeom prst="rect">
            <a:avLst/>
          </a:prstGeom>
          <a:solidFill>
            <a:srgbClr val="132E32"/>
          </a:solidFill>
          <a:ln w="0">
            <a:noFill/>
            <a:prstDash val="solid"/>
          </a:ln>
        </p:spPr>
      </p:sp>
      <p:sp>
        <p:nvSpPr>
          <p:cNvPr id="14" name="query1-code"/>
          <p:cNvSpPr>
            <a:spLocks noGrp="1"/>
          </p:cNvSpPr>
          <p:nvPr/>
        </p:nvSpPr>
        <p:spPr>
          <a:xfrm>
            <a:off x="839470" y="1557020"/>
            <a:ext cx="64008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PREFIX sports: &lt;urn:hopfield:sports:domain#&gt;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SELECT ?team WHERE {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?league a sports:SportsLeague ;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sports:hasTeam ?team .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FILTER(?league = sports:NBA)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}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ORDER BY ?team</a:t>
            </a: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endParaRPr lang="en-US" altLang="zh-CN" sz="1275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query1-right-label"/>
          <p:cNvSpPr>
            <a:spLocks noGrp="1"/>
          </p:cNvSpPr>
          <p:nvPr/>
        </p:nvSpPr>
        <p:spPr>
          <a:xfrm>
            <a:off x="7905750" y="16192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it retrieves</a:t>
            </a:r>
            <a:endParaRPr sz="180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query1-right-copy"/>
          <p:cNvSpPr>
            <a:spLocks noGrp="1"/>
          </p:cNvSpPr>
          <p:nvPr/>
        </p:nvSpPr>
        <p:spPr>
          <a:xfrm>
            <a:off x="7905750" y="2076450"/>
            <a:ext cx="342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650" b="0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List teams linked to a league via hasTeam</a:t>
            </a:r>
            <a:endParaRPr lang="en-US" altLang="zh-CN" sz="1650" b="0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query1-rule"/>
          <p:cNvSpPr>
            <a:spLocks noGrp="1"/>
          </p:cNvSpPr>
          <p:nvPr/>
        </p:nvSpPr>
        <p:spPr>
          <a:xfrm>
            <a:off x="628650" y="3430270"/>
            <a:ext cx="10437495" cy="19050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8" name="query1-output-label"/>
          <p:cNvSpPr>
            <a:spLocks noGrp="1"/>
          </p:cNvSpPr>
          <p:nvPr/>
        </p:nvSpPr>
        <p:spPr>
          <a:xfrm>
            <a:off x="1127760" y="386143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Example output</a:t>
            </a:r>
            <a:endParaRPr sz="1425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740" y="3837940"/>
            <a:ext cx="8325485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nlp-title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Python NLP Query Pipeline</a:t>
            </a:r>
            <a:endParaRPr sz="28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demo-panel"/>
          <p:cNvSpPr>
            <a:spLocks noGrp="1"/>
          </p:cNvSpPr>
          <p:nvPr/>
        </p:nvSpPr>
        <p:spPr>
          <a:xfrm>
            <a:off x="609600" y="1485265"/>
            <a:ext cx="4667250" cy="4476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23" name="demo-label"/>
          <p:cNvSpPr>
            <a:spLocks noGrp="1"/>
          </p:cNvSpPr>
          <p:nvPr/>
        </p:nvSpPr>
        <p:spPr>
          <a:xfrm>
            <a:off x="952500" y="1751965"/>
            <a:ext cx="386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LIVE DEMO</a:t>
            </a:r>
            <a:endParaRPr sz="120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demo-input"/>
          <p:cNvSpPr>
            <a:spLocks noGrp="1"/>
          </p:cNvSpPr>
          <p:nvPr/>
        </p:nvSpPr>
        <p:spPr>
          <a:xfrm>
            <a:off x="952500" y="2171065"/>
            <a:ext cx="413575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217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Which athletes play basketball?</a:t>
            </a:r>
            <a:endParaRPr lang="en-US" altLang="zh-CN" sz="217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demo-rule1"/>
          <p:cNvSpPr>
            <a:spLocks noGrp="1"/>
          </p:cNvSpPr>
          <p:nvPr/>
        </p:nvSpPr>
        <p:spPr>
          <a:xfrm>
            <a:off x="952500" y="2856865"/>
            <a:ext cx="3981450" cy="9525"/>
          </a:xfrm>
          <a:prstGeom prst="line">
            <a:avLst/>
          </a:prstGeom>
          <a:noFill/>
          <a:ln w="9525">
            <a:solidFill>
              <a:srgbClr val="79AAA7"/>
            </a:solidFill>
            <a:prstDash val="solid"/>
          </a:ln>
        </p:spPr>
      </p:sp>
      <p:sp>
        <p:nvSpPr>
          <p:cNvPr id="26" name="demo-parse"/>
          <p:cNvSpPr>
            <a:spLocks noGrp="1"/>
          </p:cNvSpPr>
          <p:nvPr/>
        </p:nvSpPr>
        <p:spPr>
          <a:xfrm>
            <a:off x="952500" y="3047365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Entity: Basketball</a:t>
            </a:r>
            <a:endParaRPr lang="en-US" altLang="zh-CN" sz="1350" b="0" i="0">
              <a:solidFill>
                <a:srgbClr val="D9ECE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350" b="0" i="0">
                <a:solidFill>
                  <a:srgbClr val="D9ECE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Intent: retrieve the athletes of a sport</a:t>
            </a:r>
            <a:endParaRPr lang="en-US" altLang="zh-CN" sz="1350" b="0" i="0">
              <a:solidFill>
                <a:srgbClr val="D9ECE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demo-query"/>
          <p:cNvSpPr>
            <a:spLocks noGrp="1"/>
          </p:cNvSpPr>
          <p:nvPr/>
        </p:nvSpPr>
        <p:spPr>
          <a:xfrm>
            <a:off x="990600" y="3481070"/>
            <a:ext cx="3943350" cy="3049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PREFIX = "PREFIX sports: &lt;urn:hopfield:sports:domain#&gt; "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queries = {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"S1 Basketball athletes (expect 6)": """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    SELECT ?athlete WHERE {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      ?athlete a sports:Athlete ;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               sports:participatesIn sports:Basketball .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    }""",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}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for name, q in queries.items():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rows = list(g.query(PREFIX + q))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print(f"=== {name} -&gt; {len(rows)} ===")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for r in rows: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    print("  ", " | ".join(str(x) for x in r))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050" b="0" i="0">
                <a:solidFill>
                  <a:srgbClr val="E4F2EE"/>
                </a:solidFill>
                <a:latin typeface="Consolas"/>
                <a:ea typeface="Consolas"/>
                <a:cs typeface="Consolas"/>
              </a:rPr>
              <a:t>    print()</a:t>
            </a:r>
            <a:endParaRPr lang="en-US" altLang="zh-CN" sz="1050" b="0" i="0">
              <a:solidFill>
                <a:srgbClr val="E4F2E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demo-result"/>
          <p:cNvSpPr>
            <a:spLocks noGrp="1"/>
          </p:cNvSpPr>
          <p:nvPr/>
        </p:nvSpPr>
        <p:spPr>
          <a:xfrm>
            <a:off x="5591810" y="1485265"/>
            <a:ext cx="4481195" cy="111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Result: </a:t>
            </a:r>
            <a:endParaRPr sz="19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95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95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AnthonyEdwards, GiannisAntetokounmpo, KevinDurant, LeBronJames, StephenCurry, VictorWembanyama (6)</a:t>
            </a:r>
            <a:endParaRPr lang="en-US" altLang="zh-CN" sz="1600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page-13"/>
          <p:cNvSpPr>
            <a:spLocks noGrp="1"/>
          </p:cNvSpPr>
          <p:nvPr/>
        </p:nvSpPr>
        <p:spPr>
          <a:xfrm>
            <a:off x="5105400" y="643826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sz="1050" b="0" i="0">
              <a:solidFill>
                <a:srgbClr val="9DB3A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0" y="3173730"/>
            <a:ext cx="6522720" cy="18376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-9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Competition and Equipment Data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9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Presenter details: Member 4  |  Student ID: [SID]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9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mber-name-9"/>
          <p:cNvSpPr>
            <a:spLocks noGrp="1"/>
          </p:cNvSpPr>
          <p:nvPr/>
        </p:nvSpPr>
        <p:spPr>
          <a:xfrm>
            <a:off x="609600" y="1390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 4  /  Competition | Equipment | Participation</a:t>
            </a:r>
            <a:endParaRPr sz="12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mber-contribution-panel-9"/>
          <p:cNvSpPr>
            <a:spLocks noGrp="1"/>
          </p:cNvSpPr>
          <p:nvPr/>
        </p:nvSpPr>
        <p:spPr>
          <a:xfrm>
            <a:off x="609600" y="1790700"/>
            <a:ext cx="4333875" cy="3714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member-contribution-title-9"/>
          <p:cNvSpPr>
            <a:spLocks noGrp="1"/>
          </p:cNvSpPr>
          <p:nvPr/>
        </p:nvSpPr>
        <p:spPr>
          <a:xfrm>
            <a:off x="9144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AND DATA CONTRIBUTION</a:t>
            </a:r>
            <a:endParaRPr sz="105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mber-contribution-copy-9"/>
          <p:cNvSpPr>
            <a:spLocks noGrp="1"/>
          </p:cNvSpPr>
          <p:nvPr/>
        </p:nvSpPr>
        <p:spPr>
          <a:xfrm>
            <a:off x="914400" y="2476500"/>
            <a:ext cx="3714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Contributed Competition, SportsEquipment, Ball, Footwear and Racket coverage.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75"/>
          </a:p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Used AthleteParticipation and TeamMembership records to retain competition and period context.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ember-evidence-9"/>
          <p:cNvSpPr>
            <a:spLocks noGrp="1"/>
          </p:cNvSpPr>
          <p:nvPr/>
        </p:nvSpPr>
        <p:spPr>
          <a:xfrm>
            <a:off x="914400" y="48577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Evidence: Tennis requires a Ball and Racket. Messi has a FIFA World Cup 2022 participation record.</a:t>
            </a:r>
            <a:endParaRPr sz="1200" b="0" i="0">
              <a:solidFill>
                <a:srgbClr val="D7E9E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mber-questions-title-9"/>
          <p:cNvSpPr>
            <a:spLocks noGrp="1"/>
          </p:cNvSpPr>
          <p:nvPr/>
        </p:nvSpPr>
        <p:spPr>
          <a:xfrm>
            <a:off x="5429250" y="17907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Assigned question set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mber-general-label-9"/>
          <p:cNvSpPr>
            <a:spLocks noGrp="1"/>
          </p:cNvSpPr>
          <p:nvPr/>
        </p:nvSpPr>
        <p:spPr>
          <a:xfrm>
            <a:off x="54292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 /  2</a:t>
            </a:r>
            <a:endParaRPr sz="10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mber-general-9"/>
          <p:cNvSpPr>
            <a:spLocks noGrp="1"/>
          </p:cNvSpPr>
          <p:nvPr/>
        </p:nvSpPr>
        <p:spPr>
          <a:xfrm>
            <a:off x="5429250" y="259080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G07 Can this ontology help users find competition information?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G08 Can this ontology help users find sports equipment?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mber-rule-9"/>
          <p:cNvSpPr>
            <a:spLocks noGrp="1"/>
          </p:cNvSpPr>
          <p:nvPr/>
        </p:nvSpPr>
        <p:spPr>
          <a:xfrm>
            <a:off x="5429250" y="3867150"/>
            <a:ext cx="561975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3" name="member-specific-label-9"/>
          <p:cNvSpPr>
            <a:spLocks noGrp="1"/>
          </p:cNvSpPr>
          <p:nvPr/>
        </p:nvSpPr>
        <p:spPr>
          <a:xfrm>
            <a:off x="5429250" y="4057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 /  3</a:t>
            </a:r>
            <a:endParaRPr sz="10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mber-specific-9"/>
          <p:cNvSpPr>
            <a:spLocks noGrp="1"/>
          </p:cNvSpPr>
          <p:nvPr/>
        </p:nvSpPr>
        <p:spPr>
          <a:xfrm>
            <a:off x="5429250" y="438150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S10 What equipment is associated with a particular sport?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S11 Which competitions has a particular athlete participated in?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S12 Which teams have competed in the same competition?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-10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Comparison, Reasoning and Data Quality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10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Presenter details: Member 5  |  Student ID: [SID]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10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member-name-10"/>
          <p:cNvSpPr>
            <a:spLocks noGrp="1"/>
          </p:cNvSpPr>
          <p:nvPr/>
        </p:nvSpPr>
        <p:spPr>
          <a:xfrm>
            <a:off x="609600" y="13906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 5  /  Comparison | Reasoning | Validation</a:t>
            </a:r>
            <a:endParaRPr sz="1275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mber-contribution-panel-10"/>
          <p:cNvSpPr>
            <a:spLocks noGrp="1"/>
          </p:cNvSpPr>
          <p:nvPr/>
        </p:nvSpPr>
        <p:spPr>
          <a:xfrm>
            <a:off x="609600" y="1790700"/>
            <a:ext cx="4333875" cy="3714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member-contribution-title-10"/>
          <p:cNvSpPr>
            <a:spLocks noGrp="1"/>
          </p:cNvSpPr>
          <p:nvPr/>
        </p:nvSpPr>
        <p:spPr>
          <a:xfrm>
            <a:off x="914400" y="2038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BEE6E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AND DATA CONTRIBUTION</a:t>
            </a:r>
            <a:endParaRPr sz="1050" b="1" i="0">
              <a:solidFill>
                <a:srgbClr val="BEE6E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member-contribution-copy-10"/>
          <p:cNvSpPr>
            <a:spLocks noGrp="1"/>
          </p:cNvSpPr>
          <p:nvPr/>
        </p:nvSpPr>
        <p:spPr>
          <a:xfrm>
            <a:off x="914400" y="2476500"/>
            <a:ext cx="3714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Contributed team comparison fields, OwlReasoningCapability and SHACL validation coverage.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75"/>
          </a:p>
          <a:p>
            <a:pPr algn="l">
              <a:def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Checked inverse and equivalent properties, temporal records and teammate links.</a:t>
            </a:r>
            <a:endParaRPr sz="1575" b="0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member-evidence-10"/>
          <p:cNvSpPr>
            <a:spLocks noGrp="1"/>
          </p:cNvSpPr>
          <p:nvPr/>
        </p:nvSpPr>
        <p:spPr>
          <a:xfrm>
            <a:off x="914400" y="48577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D7E9E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Evidence: Argentina has 26 athletes, Scaloni and 3 titles. Messi has 25 teammate links.</a:t>
            </a:r>
            <a:endParaRPr sz="1200" b="0" i="0">
              <a:solidFill>
                <a:srgbClr val="D7E9E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member-questions-title-10"/>
          <p:cNvSpPr>
            <a:spLocks noGrp="1"/>
          </p:cNvSpPr>
          <p:nvPr/>
        </p:nvSpPr>
        <p:spPr>
          <a:xfrm>
            <a:off x="5429250" y="17907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Assigned question set</a:t>
            </a:r>
            <a:endParaRPr sz="180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member-general-label-10"/>
          <p:cNvSpPr>
            <a:spLocks noGrp="1"/>
          </p:cNvSpPr>
          <p:nvPr/>
        </p:nvSpPr>
        <p:spPr>
          <a:xfrm>
            <a:off x="54292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  /  2</a:t>
            </a:r>
            <a:endParaRPr sz="10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member-general-10"/>
          <p:cNvSpPr>
            <a:spLocks noGrp="1"/>
          </p:cNvSpPr>
          <p:nvPr/>
        </p:nvSpPr>
        <p:spPr>
          <a:xfrm>
            <a:off x="5429250" y="2590800"/>
            <a:ext cx="5619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G09 How can this ontology help users compare sports teams?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G10 How can reasoning improve the use of this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member-rule-10"/>
          <p:cNvSpPr>
            <a:spLocks noGrp="1"/>
          </p:cNvSpPr>
          <p:nvPr/>
        </p:nvSpPr>
        <p:spPr>
          <a:xfrm>
            <a:off x="5429250" y="3867150"/>
            <a:ext cx="5619750" cy="9525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13" name="member-specific-label-10"/>
          <p:cNvSpPr>
            <a:spLocks noGrp="1"/>
          </p:cNvSpPr>
          <p:nvPr/>
        </p:nvSpPr>
        <p:spPr>
          <a:xfrm>
            <a:off x="5429250" y="4057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  /  3</a:t>
            </a:r>
            <a:endParaRPr sz="10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member-specific-10"/>
          <p:cNvSpPr>
            <a:spLocks noGrp="1"/>
          </p:cNvSpPr>
          <p:nvPr/>
        </p:nvSpPr>
        <p:spPr>
          <a:xfrm>
            <a:off x="5429250" y="4381500"/>
            <a:ext cx="561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S13 Is an athlete linked to a team that does not exist in the ontology?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S14 Can the ontology infer that two athletes are teammates?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S15 Can the ontology detect contradictory sports information?</a:t>
            </a:r>
            <a:endParaRPr sz="1425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itle-14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 Cases and Expected Results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14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 query paths checked against the final OWL data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14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04950"/>
          <a:ext cx="10972800" cy="3733800"/>
        </p:xfrm>
        <a:graphic>
          <a:graphicData uri="http://schemas.openxmlformats.org/drawingml/2006/table">
            <a:tbl>
              <a:tblPr firstRow="1" firstCol="1"/>
              <a:tblGrid>
                <a:gridCol w="876300"/>
                <a:gridCol w="3048000"/>
                <a:gridCol w="3714750"/>
                <a:gridCol w="3333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Test</a:t>
                      </a:r>
                      <a:endParaRPr sz="12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Natural-language query</a:t>
                      </a:r>
                      <a:endParaRPr sz="12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Key path</a:t>
                      </a:r>
                      <a:endParaRPr sz="12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Expected result from current OWL</a:t>
                      </a:r>
                      <a:endParaRPr sz="1275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T w="9525">
                      <a:solidFill>
                        <a:srgbClr val="D4CDC1"/>
                      </a:solidFill>
                      <a:prstDash val="solid"/>
                    </a:lnT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102A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T01</a:t>
                      </a:r>
                      <a:endParaRPr sz="1350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Which sport does Messi play?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LionelMessi → participatesIn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Football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T02</a:t>
                      </a:r>
                      <a:endParaRPr sz="1350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Who coaches Argentina?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ArgentinaNationalTeam → hasCoach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LionelScaloni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T03</a:t>
                      </a:r>
                      <a:endParaRPr sz="1350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What equipment does tennis require?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Tennis → requires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TennisRacket + TennisBall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T04</a:t>
                      </a:r>
                      <a:endParaRPr sz="1350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What was the 2022 World Cup final score?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Final → scores + MatchResult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3:3; penalties 4:2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02A2E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T05</a:t>
                      </a:r>
                      <a:endParaRPr sz="1350" b="1">
                        <a:solidFill>
                          <a:srgbClr val="102A2E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L w="9525">
                      <a:solidFill>
                        <a:srgbClr val="D4CDC1"/>
                      </a:solidFill>
                      <a:prstDash val="solid"/>
                    </a:lnL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Which league has the most teams?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SportsLeague → hasTeam + COUNT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7464A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NBA / 5 teams</a:t>
                      </a:r>
                      <a:endParaRPr sz="1350" b="0">
                        <a:solidFill>
                          <a:srgbClr val="27464A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133350" marR="133350" marT="76200" marB="76200">
                    <a:lnR w="9525">
                      <a:solidFill>
                        <a:srgbClr val="D4CDC1"/>
                      </a:solidFill>
                      <a:prstDash val="solid"/>
                    </a:lnR>
                    <a:lnB w="9525">
                      <a:solidFill>
                        <a:srgbClr val="D4CDC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st-summary-mark"/>
          <p:cNvSpPr>
            <a:spLocks noGrp="1"/>
          </p:cNvSpPr>
          <p:nvPr/>
        </p:nvSpPr>
        <p:spPr>
          <a:xfrm>
            <a:off x="609600" y="5581650"/>
            <a:ext cx="57150" cy="666750"/>
          </a:xfrm>
          <a:prstGeom prst="rect">
            <a:avLst/>
          </a:prstGeom>
          <a:solidFill>
            <a:srgbClr val="0B7285"/>
          </a:solidFill>
          <a:ln w="0">
            <a:noFill/>
            <a:prstDash val="solid"/>
          </a:ln>
        </p:spPr>
      </p:sp>
      <p:sp>
        <p:nvSpPr>
          <p:cNvPr id="6" name="test-summary"/>
          <p:cNvSpPr>
            <a:spLocks noGrp="1"/>
          </p:cNvSpPr>
          <p:nvPr/>
        </p:nvSpPr>
        <p:spPr>
          <a:xfrm>
            <a:off x="876300" y="55816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final ontology expresses every core path. Re-import the current OWL into Fuseki before submission and capture screenshots of the five test queries.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itle-15"/>
          <p:cNvSpPr>
            <a:spLocks noGrp="1"/>
          </p:cNvSpPr>
          <p:nvPr/>
        </p:nvSpPr>
        <p:spPr>
          <a:xfrm>
            <a:off x="609600" y="4000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50" b="1" i="0">
                <a:solidFill>
                  <a:srgbClr val="102A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Limitations and Next Steps</a:t>
            </a:r>
            <a:endParaRPr sz="2850" b="1" i="0">
              <a:solidFill>
                <a:srgbClr val="102A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-15"/>
          <p:cNvSpPr>
            <a:spLocks noGrp="1"/>
          </p:cNvSpPr>
          <p:nvPr/>
        </p:nvSpPr>
        <p:spPr>
          <a:xfrm>
            <a:off x="628650" y="952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final model is demonstrable, but live testing and evidence capture remain</a:t>
            </a:r>
            <a:endParaRPr sz="150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age-15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60727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1050" b="0" i="0">
              <a:solidFill>
                <a:srgbClr val="60727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limits-heading"/>
          <p:cNvSpPr>
            <a:spLocks noGrp="1"/>
          </p:cNvSpPr>
          <p:nvPr/>
        </p:nvSpPr>
        <p:spPr>
          <a:xfrm>
            <a:off x="609600" y="15240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Current limitations</a:t>
            </a:r>
            <a:endParaRPr sz="19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limits-copy"/>
          <p:cNvSpPr>
            <a:spLocks noGrp="1"/>
          </p:cNvSpPr>
          <p:nvPr/>
        </p:nvSpPr>
        <p:spPr>
          <a:xfrm>
            <a:off x="609600" y="2038350"/>
            <a:ext cx="504825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  The prototype relies on dictionaries and rule templates, so synonym coverage and nested questions remain limited.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 Individual data is a teaching sample, and some competitions include only representative teams or matches.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 A reasoner detects logical conflicts, but it cannot verify every real-world factual error.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 The final ontology contains 63 classes, 79 modeling properties and 241 individuals. Live Fuseki and HermiT evidence still needs to be captured.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limits-divider"/>
          <p:cNvSpPr>
            <a:spLocks noGrp="1"/>
          </p:cNvSpPr>
          <p:nvPr/>
        </p:nvSpPr>
        <p:spPr>
          <a:xfrm>
            <a:off x="6000750" y="1524000"/>
            <a:ext cx="9525" cy="4152900"/>
          </a:xfrm>
          <a:prstGeom prst="line">
            <a:avLst/>
          </a:prstGeom>
          <a:noFill/>
          <a:ln w="19050">
            <a:solidFill>
              <a:srgbClr val="D4CDC1"/>
            </a:solidFill>
            <a:prstDash val="solid"/>
          </a:ln>
        </p:spPr>
      </p:sp>
      <p:sp>
        <p:nvSpPr>
          <p:cNvPr id="7" name="improvements-heading"/>
          <p:cNvSpPr>
            <a:spLocks noGrp="1"/>
          </p:cNvSpPr>
          <p:nvPr/>
        </p:nvSpPr>
        <p:spPr>
          <a:xfrm>
            <a:off x="6400800" y="15240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950" b="1" i="0">
                <a:solidFill>
                  <a:srgbClr val="0B728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Planned improvements</a:t>
            </a:r>
            <a:endParaRPr sz="1950" b="1" i="0">
              <a:solidFill>
                <a:srgbClr val="0B728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improvements-copy"/>
          <p:cNvSpPr>
            <a:spLocks noGrp="1"/>
          </p:cNvSpPr>
          <p:nvPr/>
        </p:nvSpPr>
        <p:spPr>
          <a:xfrm>
            <a:off x="6400800" y="2038350"/>
            <a:ext cx="5105400" cy="3257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  Read labels, domains and ranges directly from the OWL to reduce hand-written dictionaries.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 Add more English and Chinese aliases, intent patterns and clarification prompts.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 Introduce SHACL or custom checks for missing teams, venues and time fields.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00"/>
          </a:p>
          <a:p>
            <a:pPr algn="l">
              <a:def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27464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 Run the full regression suite on Fuseki and refresh report screenshots, statistics and query examples.</a:t>
            </a:r>
            <a:endParaRPr sz="1500" b="0" i="0">
              <a:solidFill>
                <a:srgbClr val="27464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close-accent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E4572E"/>
          </a:solidFill>
          <a:ln w="0">
            <a:noFill/>
            <a:prstDash val="solid"/>
          </a:ln>
        </p:spPr>
      </p:sp>
      <p:sp>
        <p:nvSpPr>
          <p:cNvPr id="2" name="close-kicker"/>
          <p:cNvSpPr>
            <a:spLocks noGrp="1"/>
          </p:cNvSpPr>
          <p:nvPr/>
        </p:nvSpPr>
        <p:spPr>
          <a:xfrm>
            <a:off x="723900" y="6667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 i="0">
                <a:solidFill>
                  <a:srgbClr val="AFC7C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ASSESSMENT OUTCOME</a:t>
            </a:r>
            <a:endParaRPr sz="1200" b="1" i="0">
              <a:solidFill>
                <a:srgbClr val="AFC7C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close-title"/>
          <p:cNvSpPr>
            <a:spLocks noGrp="1"/>
          </p:cNvSpPr>
          <p:nvPr/>
        </p:nvSpPr>
        <p:spPr>
          <a:xfrm>
            <a:off x="685800" y="120015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query-ready ontology, clear ownership and a working prototype</a:t>
            </a:r>
            <a:endParaRPr sz="262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close-num-01"/>
          <p:cNvSpPr>
            <a:spLocks noGrp="1"/>
          </p:cNvSpPr>
          <p:nvPr/>
        </p:nvSpPr>
        <p:spPr>
          <a:xfrm>
            <a:off x="742950" y="23241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close-label-01"/>
          <p:cNvSpPr>
            <a:spLocks noGrp="1"/>
          </p:cNvSpPr>
          <p:nvPr/>
        </p:nvSpPr>
        <p:spPr>
          <a:xfrm>
            <a:off x="1352550" y="231457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Ontology complete</a:t>
            </a:r>
            <a:endParaRPr sz="172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close-detail-01"/>
          <p:cNvSpPr>
            <a:spLocks noGrp="1"/>
          </p:cNvSpPr>
          <p:nvPr/>
        </p:nvSpPr>
        <p:spPr>
          <a:xfrm>
            <a:off x="3238500" y="23241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63 classes, 79 modeling properties and 241 individuals</a:t>
            </a:r>
            <a:endParaRPr sz="1575" b="0" i="0">
              <a:solidFill>
                <a:srgbClr val="C8D9D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close-rule-01"/>
          <p:cNvSpPr>
            <a:spLocks noGrp="1"/>
          </p:cNvSpPr>
          <p:nvPr/>
        </p:nvSpPr>
        <p:spPr>
          <a:xfrm>
            <a:off x="742950" y="2895600"/>
            <a:ext cx="10496550" cy="9525"/>
          </a:xfrm>
          <a:prstGeom prst="line">
            <a:avLst/>
          </a:prstGeom>
          <a:noFill/>
          <a:ln w="9525">
            <a:solidFill>
              <a:srgbClr val="36565A"/>
            </a:solidFill>
            <a:prstDash val="solid"/>
          </a:ln>
        </p:spPr>
      </p:sp>
      <p:sp>
        <p:nvSpPr>
          <p:cNvPr id="8" name="close-num-02"/>
          <p:cNvSpPr>
            <a:spLocks noGrp="1"/>
          </p:cNvSpPr>
          <p:nvPr/>
        </p:nvSpPr>
        <p:spPr>
          <a:xfrm>
            <a:off x="742950" y="33147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close-label-02"/>
          <p:cNvSpPr>
            <a:spLocks noGrp="1"/>
          </p:cNvSpPr>
          <p:nvPr/>
        </p:nvSpPr>
        <p:spPr>
          <a:xfrm>
            <a:off x="1352550" y="330517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Requirements covered</a:t>
            </a:r>
            <a:endParaRPr sz="172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close-detail-02"/>
          <p:cNvSpPr>
            <a:spLocks noGrp="1"/>
          </p:cNvSpPr>
          <p:nvPr/>
        </p:nvSpPr>
        <p:spPr>
          <a:xfrm>
            <a:off x="3238500" y="33147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general and 15 specific questions, with each member owning 2 and 3</a:t>
            </a:r>
            <a:endParaRPr sz="1575" b="0" i="0">
              <a:solidFill>
                <a:srgbClr val="C8D9D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close-rule-02"/>
          <p:cNvSpPr>
            <a:spLocks noGrp="1"/>
          </p:cNvSpPr>
          <p:nvPr/>
        </p:nvSpPr>
        <p:spPr>
          <a:xfrm>
            <a:off x="742950" y="3886200"/>
            <a:ext cx="10496550" cy="9525"/>
          </a:xfrm>
          <a:prstGeom prst="line">
            <a:avLst/>
          </a:prstGeom>
          <a:noFill/>
          <a:ln w="9525">
            <a:solidFill>
              <a:srgbClr val="36565A"/>
            </a:solidFill>
            <a:prstDash val="solid"/>
          </a:ln>
        </p:spPr>
      </p:sp>
      <p:sp>
        <p:nvSpPr>
          <p:cNvPr id="12" name="close-num-03"/>
          <p:cNvSpPr>
            <a:spLocks noGrp="1"/>
          </p:cNvSpPr>
          <p:nvPr/>
        </p:nvSpPr>
        <p:spPr>
          <a:xfrm>
            <a:off x="742950" y="43053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i="0">
                <a:solidFill>
                  <a:srgbClr val="E457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350" b="1" i="0">
              <a:solidFill>
                <a:srgbClr val="E457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close-label-03"/>
          <p:cNvSpPr>
            <a:spLocks noGrp="1"/>
          </p:cNvSpPr>
          <p:nvPr/>
        </p:nvSpPr>
        <p:spPr>
          <a:xfrm>
            <a:off x="1352550" y="429577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Next milestone</a:t>
            </a:r>
            <a:endParaRPr sz="172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close-detail-03"/>
          <p:cNvSpPr>
            <a:spLocks noGrp="1"/>
          </p:cNvSpPr>
          <p:nvPr/>
        </p:nvSpPr>
        <p:spPr>
          <a:xfrm>
            <a:off x="3238500" y="43053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 i="0">
                <a:solidFill>
                  <a:srgbClr val="C8D9D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Full Fuseki regression, report alignment, demo captures and final defence</a:t>
            </a:r>
            <a:endParaRPr sz="1575" b="0" i="0">
              <a:solidFill>
                <a:srgbClr val="C8D9D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close-qa"/>
          <p:cNvSpPr>
            <a:spLocks noGrp="1"/>
          </p:cNvSpPr>
          <p:nvPr/>
        </p:nvSpPr>
        <p:spPr>
          <a:xfrm>
            <a:off x="742950" y="57150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 i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 &amp; feedback</a:t>
            </a:r>
            <a:endParaRPr sz="2325" b="1" i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page-16"/>
          <p:cNvSpPr>
            <a:spLocks noGrp="1"/>
          </p:cNvSpPr>
          <p:nvPr/>
        </p:nvSpPr>
        <p:spPr>
          <a:xfrm>
            <a:off x="11258550" y="6457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r">
              <a:def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9DB3A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1050" b="0" i="0">
              <a:solidFill>
                <a:srgbClr val="9DB3A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9903</Words>
  <Application>WPS 文字</Application>
  <PresentationFormat>Converted Presentation</PresentationFormat>
  <Paragraphs>532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Arial</vt:lpstr>
      <vt:lpstr>Consolas</vt:lpstr>
      <vt:lpstr>Thonburi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Consolas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铭</cp:lastModifiedBy>
  <cp:revision>2</cp:revision>
  <dcterms:created xsi:type="dcterms:W3CDTF">2026-10-30T05:13:06Z</dcterms:created>
  <dcterms:modified xsi:type="dcterms:W3CDTF">2026-10-30T05:13:06Z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2052-12.1.29182.29182</vt:lpwstr>
  </property>
  <property fmtid="{D5CDD505-2E9C-101B-9397-08002B2CF9AE}" pid="3" name="ICV">
    <vt:lpwstr>ED8F47004AA651FF5027E46A3D310C54_43</vt:lpwstr>
  </property>
</Properties>
</file>